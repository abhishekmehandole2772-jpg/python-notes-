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zan khan" userId="a420c53e5e20aa8c" providerId="LiveId" clId="{FFDE0F29-7B29-4C39-896D-341E139C0B41}"/>
    <pc:docChg chg="undo custSel addSld modSld sldOrd">
      <pc:chgData name="Faizan khan" userId="a420c53e5e20aa8c" providerId="LiveId" clId="{FFDE0F29-7B29-4C39-896D-341E139C0B41}" dt="2025-12-02T16:29:52.032" v="250" actId="20577"/>
      <pc:docMkLst>
        <pc:docMk/>
      </pc:docMkLst>
      <pc:sldChg chg="addSp delSp modSp mod">
        <pc:chgData name="Faizan khan" userId="a420c53e5e20aa8c" providerId="LiveId" clId="{FFDE0F29-7B29-4C39-896D-341E139C0B41}" dt="2025-12-02T16:29:07.149" v="240" actId="20577"/>
        <pc:sldMkLst>
          <pc:docMk/>
          <pc:sldMk cId="854288352" sldId="257"/>
        </pc:sldMkLst>
        <pc:spChg chg="mod">
          <ac:chgData name="Faizan khan" userId="a420c53e5e20aa8c" providerId="LiveId" clId="{FFDE0F29-7B29-4C39-896D-341E139C0B41}" dt="2025-12-02T16:29:07.149" v="240" actId="20577"/>
          <ac:spMkLst>
            <pc:docMk/>
            <pc:sldMk cId="854288352" sldId="257"/>
            <ac:spMk id="3" creationId="{410B16D1-28F8-BE3B-D4FC-F1FA056DCCC7}"/>
          </ac:spMkLst>
        </pc:spChg>
        <pc:spChg chg="mod">
          <ac:chgData name="Faizan khan" userId="a420c53e5e20aa8c" providerId="LiveId" clId="{FFDE0F29-7B29-4C39-896D-341E139C0B41}" dt="2025-12-02T04:01:07.089" v="55"/>
          <ac:spMkLst>
            <pc:docMk/>
            <pc:sldMk cId="854288352" sldId="257"/>
            <ac:spMk id="5" creationId="{8E2D7C56-7B75-E761-4F59-68C3E96E0F50}"/>
          </ac:spMkLst>
        </pc:spChg>
        <pc:picChg chg="del">
          <ac:chgData name="Faizan khan" userId="a420c53e5e20aa8c" providerId="LiveId" clId="{FFDE0F29-7B29-4C39-896D-341E139C0B41}" dt="2025-12-02T03:56:59.771" v="2" actId="478"/>
          <ac:picMkLst>
            <pc:docMk/>
            <pc:sldMk cId="854288352" sldId="257"/>
            <ac:picMk id="7" creationId="{A08EB0EC-B6A5-45A6-CFA7-C2F2F5125266}"/>
          </ac:picMkLst>
        </pc:picChg>
        <pc:picChg chg="add mod">
          <ac:chgData name="Faizan khan" userId="a420c53e5e20aa8c" providerId="LiveId" clId="{FFDE0F29-7B29-4C39-896D-341E139C0B41}" dt="2025-12-02T08:22:32.144" v="222" actId="1037"/>
          <ac:picMkLst>
            <pc:docMk/>
            <pc:sldMk cId="854288352" sldId="257"/>
            <ac:picMk id="8" creationId="{0108A828-E7F9-4141-BB38-353FC88BB32A}"/>
          </ac:picMkLst>
        </pc:picChg>
        <pc:picChg chg="del">
          <ac:chgData name="Faizan khan" userId="a420c53e5e20aa8c" providerId="LiveId" clId="{FFDE0F29-7B29-4C39-896D-341E139C0B41}" dt="2025-12-02T03:56:48.404" v="0" actId="478"/>
          <ac:picMkLst>
            <pc:docMk/>
            <pc:sldMk cId="854288352" sldId="257"/>
            <ac:picMk id="13" creationId="{736985F1-78C3-EC87-83A0-2D323CD4C9C0}"/>
          </ac:picMkLst>
        </pc:picChg>
        <pc:picChg chg="mod">
          <ac:chgData name="Faizan khan" userId="a420c53e5e20aa8c" providerId="LiveId" clId="{FFDE0F29-7B29-4C39-896D-341E139C0B41}" dt="2025-12-02T03:57:27.525" v="9" actId="1076"/>
          <ac:picMkLst>
            <pc:docMk/>
            <pc:sldMk cId="854288352" sldId="257"/>
            <ac:picMk id="1028" creationId="{972C6F2B-0BE1-CEC3-14C2-356A65B2C20C}"/>
          </ac:picMkLst>
        </pc:picChg>
      </pc:sldChg>
      <pc:sldChg chg="addSp delSp modSp mod">
        <pc:chgData name="Faizan khan" userId="a420c53e5e20aa8c" providerId="LiveId" clId="{FFDE0F29-7B29-4C39-896D-341E139C0B41}" dt="2025-12-02T04:04:26.982" v="62" actId="1440"/>
        <pc:sldMkLst>
          <pc:docMk/>
          <pc:sldMk cId="3865209502" sldId="258"/>
        </pc:sldMkLst>
        <pc:spChg chg="mod">
          <ac:chgData name="Faizan khan" userId="a420c53e5e20aa8c" providerId="LiveId" clId="{FFDE0F29-7B29-4C39-896D-341E139C0B41}" dt="2025-12-02T04:00:59.988" v="53" actId="20577"/>
          <ac:spMkLst>
            <pc:docMk/>
            <pc:sldMk cId="3865209502" sldId="258"/>
            <ac:spMk id="5" creationId="{8E2D7C56-7B75-E761-4F59-68C3E96E0F50}"/>
          </ac:spMkLst>
        </pc:spChg>
        <pc:picChg chg="del">
          <ac:chgData name="Faizan khan" userId="a420c53e5e20aa8c" providerId="LiveId" clId="{FFDE0F29-7B29-4C39-896D-341E139C0B41}" dt="2025-12-02T03:57:03.523" v="3" actId="478"/>
          <ac:picMkLst>
            <pc:docMk/>
            <pc:sldMk cId="3865209502" sldId="258"/>
            <ac:picMk id="7" creationId="{A08EB0EC-B6A5-45A6-CFA7-C2F2F5125266}"/>
          </ac:picMkLst>
        </pc:picChg>
        <pc:picChg chg="mod">
          <ac:chgData name="Faizan khan" userId="a420c53e5e20aa8c" providerId="LiveId" clId="{FFDE0F29-7B29-4C39-896D-341E139C0B41}" dt="2025-12-02T03:57:22.725" v="8" actId="1076"/>
          <ac:picMkLst>
            <pc:docMk/>
            <pc:sldMk cId="3865209502" sldId="258"/>
            <ac:picMk id="8" creationId="{E1347EE7-FE29-0E29-BF15-30E6447AEF6A}"/>
          </ac:picMkLst>
        </pc:picChg>
        <pc:picChg chg="add mod">
          <ac:chgData name="Faizan khan" userId="a420c53e5e20aa8c" providerId="LiveId" clId="{FFDE0F29-7B29-4C39-896D-341E139C0B41}" dt="2025-12-02T04:04:26.982" v="62" actId="1440"/>
          <ac:picMkLst>
            <pc:docMk/>
            <pc:sldMk cId="3865209502" sldId="258"/>
            <ac:picMk id="10" creationId="{ED642709-75B6-4E40-A412-839DDDEE2A6E}"/>
          </ac:picMkLst>
        </pc:picChg>
        <pc:picChg chg="del">
          <ac:chgData name="Faizan khan" userId="a420c53e5e20aa8c" providerId="LiveId" clId="{FFDE0F29-7B29-4C39-896D-341E139C0B41}" dt="2025-12-02T03:57:04.714" v="4" actId="478"/>
          <ac:picMkLst>
            <pc:docMk/>
            <pc:sldMk cId="3865209502" sldId="258"/>
            <ac:picMk id="12" creationId="{8D56A6E6-9FEB-E12A-1F6A-8FCBFFF9CFAD}"/>
          </ac:picMkLst>
        </pc:picChg>
      </pc:sldChg>
      <pc:sldChg chg="addSp delSp modSp mod">
        <pc:chgData name="Faizan khan" userId="a420c53e5e20aa8c" providerId="LiveId" clId="{FFDE0F29-7B29-4C39-896D-341E139C0B41}" dt="2025-12-02T16:29:22.237" v="249" actId="1035"/>
        <pc:sldMkLst>
          <pc:docMk/>
          <pc:sldMk cId="1262944802" sldId="259"/>
        </pc:sldMkLst>
        <pc:spChg chg="mod">
          <ac:chgData name="Faizan khan" userId="a420c53e5e20aa8c" providerId="LiveId" clId="{FFDE0F29-7B29-4C39-896D-341E139C0B41}" dt="2025-12-02T04:01:11.772" v="57"/>
          <ac:spMkLst>
            <pc:docMk/>
            <pc:sldMk cId="1262944802" sldId="259"/>
            <ac:spMk id="5" creationId="{8E2D7C56-7B75-E761-4F59-68C3E96E0F50}"/>
          </ac:spMkLst>
        </pc:spChg>
        <pc:picChg chg="del">
          <ac:chgData name="Faizan khan" userId="a420c53e5e20aa8c" providerId="LiveId" clId="{FFDE0F29-7B29-4C39-896D-341E139C0B41}" dt="2025-12-02T03:57:09.678" v="6" actId="478"/>
          <ac:picMkLst>
            <pc:docMk/>
            <pc:sldMk cId="1262944802" sldId="259"/>
            <ac:picMk id="7" creationId="{A08EB0EC-B6A5-45A6-CFA7-C2F2F5125266}"/>
          </ac:picMkLst>
        </pc:picChg>
        <pc:picChg chg="mod">
          <ac:chgData name="Faizan khan" userId="a420c53e5e20aa8c" providerId="LiveId" clId="{FFDE0F29-7B29-4C39-896D-341E139C0B41}" dt="2025-12-02T03:57:16.468" v="7" actId="1076"/>
          <ac:picMkLst>
            <pc:docMk/>
            <pc:sldMk cId="1262944802" sldId="259"/>
            <ac:picMk id="8" creationId="{477DCD06-8CCD-19DF-C8D4-3B05B23C2E7F}"/>
          </ac:picMkLst>
        </pc:picChg>
        <pc:picChg chg="add mod">
          <ac:chgData name="Faizan khan" userId="a420c53e5e20aa8c" providerId="LiveId" clId="{FFDE0F29-7B29-4C39-896D-341E139C0B41}" dt="2025-12-02T16:29:22.237" v="249" actId="1035"/>
          <ac:picMkLst>
            <pc:docMk/>
            <pc:sldMk cId="1262944802" sldId="259"/>
            <ac:picMk id="10" creationId="{C74B20B6-3D1F-44FD-89F6-AFA11A62E3B3}"/>
          </ac:picMkLst>
        </pc:picChg>
        <pc:picChg chg="del">
          <ac:chgData name="Faizan khan" userId="a420c53e5e20aa8c" providerId="LiveId" clId="{FFDE0F29-7B29-4C39-896D-341E139C0B41}" dt="2025-12-02T03:57:08.550" v="5" actId="478"/>
          <ac:picMkLst>
            <pc:docMk/>
            <pc:sldMk cId="1262944802" sldId="259"/>
            <ac:picMk id="12" creationId="{8D56A6E6-9FEB-E12A-1F6A-8FCBFFF9CFAD}"/>
          </ac:picMkLst>
        </pc:picChg>
      </pc:sldChg>
      <pc:sldChg chg="addSp delSp modSp add mod ord">
        <pc:chgData name="Faizan khan" userId="a420c53e5e20aa8c" providerId="LiveId" clId="{FFDE0F29-7B29-4C39-896D-341E139C0B41}" dt="2025-12-02T16:29:52.032" v="250" actId="20577"/>
        <pc:sldMkLst>
          <pc:docMk/>
          <pc:sldMk cId="3866409499" sldId="260"/>
        </pc:sldMkLst>
        <pc:spChg chg="mod">
          <ac:chgData name="Faizan khan" userId="a420c53e5e20aa8c" providerId="LiveId" clId="{FFDE0F29-7B29-4C39-896D-341E139C0B41}" dt="2025-12-02T16:29:52.032" v="250" actId="20577"/>
          <ac:spMkLst>
            <pc:docMk/>
            <pc:sldMk cId="3866409499" sldId="260"/>
            <ac:spMk id="2" creationId="{D1B96785-4B8B-FA5B-C78A-A11268074C33}"/>
          </ac:spMkLst>
        </pc:spChg>
        <pc:spChg chg="mod">
          <ac:chgData name="Faizan khan" userId="a420c53e5e20aa8c" providerId="LiveId" clId="{FFDE0F29-7B29-4C39-896D-341E139C0B41}" dt="2025-12-02T16:28:54.172" v="231" actId="20577"/>
          <ac:spMkLst>
            <pc:docMk/>
            <pc:sldMk cId="3866409499" sldId="260"/>
            <ac:spMk id="3" creationId="{410B16D1-28F8-BE3B-D4FC-F1FA056DCCC7}"/>
          </ac:spMkLst>
        </pc:spChg>
        <pc:spChg chg="del mod">
          <ac:chgData name="Faizan khan" userId="a420c53e5e20aa8c" providerId="LiveId" clId="{FFDE0F29-7B29-4C39-896D-341E139C0B41}" dt="2025-12-02T04:09:01.499" v="71" actId="478"/>
          <ac:spMkLst>
            <pc:docMk/>
            <pc:sldMk cId="3866409499" sldId="260"/>
            <ac:spMk id="6" creationId="{AD068555-1BC7-C50B-CCCE-16510F32C912}"/>
          </ac:spMkLst>
        </pc:spChg>
        <pc:spChg chg="add del mod">
          <ac:chgData name="Faizan khan" userId="a420c53e5e20aa8c" providerId="LiveId" clId="{FFDE0F29-7B29-4C39-896D-341E139C0B41}" dt="2025-12-02T04:09:40.232" v="81" actId="5793"/>
          <ac:spMkLst>
            <pc:docMk/>
            <pc:sldMk cId="3866409499" sldId="260"/>
            <ac:spMk id="10" creationId="{76C98889-0FB0-7BAE-666E-6339C6BFBC6C}"/>
          </ac:spMkLst>
        </pc:spChg>
        <pc:graphicFrameChg chg="add del mod">
          <ac:chgData name="Faizan khan" userId="a420c53e5e20aa8c" providerId="LiveId" clId="{FFDE0F29-7B29-4C39-896D-341E139C0B41}" dt="2025-12-02T04:09:29.719" v="77"/>
          <ac:graphicFrameMkLst>
            <pc:docMk/>
            <pc:sldMk cId="3866409499" sldId="260"/>
            <ac:graphicFrameMk id="4" creationId="{5AF3E68A-9375-4352-9E1A-45C19DE3AAC5}"/>
          </ac:graphicFrameMkLst>
        </pc:graphicFrameChg>
        <pc:graphicFrameChg chg="add mod modGraphic">
          <ac:chgData name="Faizan khan" userId="a420c53e5e20aa8c" providerId="LiveId" clId="{FFDE0F29-7B29-4C39-896D-341E139C0B41}" dt="2025-12-02T04:14:02.616" v="94" actId="14100"/>
          <ac:graphicFrameMkLst>
            <pc:docMk/>
            <pc:sldMk cId="3866409499" sldId="260"/>
            <ac:graphicFrameMk id="9" creationId="{1C9E8D77-BB2B-450B-8AD2-635B45ECF7D0}"/>
          </ac:graphicFrameMkLst>
        </pc:graphicFrameChg>
        <pc:picChg chg="add del mod">
          <ac:chgData name="Faizan khan" userId="a420c53e5e20aa8c" providerId="LiveId" clId="{FFDE0F29-7B29-4C39-896D-341E139C0B41}" dt="2025-12-02T04:09:29.719" v="77"/>
          <ac:picMkLst>
            <pc:docMk/>
            <pc:sldMk cId="3866409499" sldId="260"/>
            <ac:picMk id="7" creationId="{86B25112-FF0B-419D-90AD-249E8DF419CF}"/>
          </ac:picMkLst>
        </pc:picChg>
        <pc:picChg chg="mod">
          <ac:chgData name="Faizan khan" userId="a420c53e5e20aa8c" providerId="LiveId" clId="{FFDE0F29-7B29-4C39-896D-341E139C0B41}" dt="2025-12-02T04:14:44.580" v="113" actId="1036"/>
          <ac:picMkLst>
            <pc:docMk/>
            <pc:sldMk cId="3866409499" sldId="260"/>
            <ac:picMk id="8" creationId="{0108A828-E7F9-4141-BB38-353FC88BB32A}"/>
          </ac:picMkLst>
        </pc:picChg>
        <pc:picChg chg="add del mod">
          <ac:chgData name="Faizan khan" userId="a420c53e5e20aa8c" providerId="LiveId" clId="{FFDE0F29-7B29-4C39-896D-341E139C0B41}" dt="2025-12-02T04:31:09.689" v="209" actId="478"/>
          <ac:picMkLst>
            <pc:docMk/>
            <pc:sldMk cId="3866409499" sldId="260"/>
            <ac:picMk id="11" creationId="{088F70E7-3CFC-4F8F-B507-32CD2CF6AA18}"/>
          </ac:picMkLst>
        </pc:picChg>
        <pc:picChg chg="add del mod">
          <ac:chgData name="Faizan khan" userId="a420c53e5e20aa8c" providerId="LiveId" clId="{FFDE0F29-7B29-4C39-896D-341E139C0B41}" dt="2025-12-02T04:09:53.686" v="83" actId="478"/>
          <ac:picMkLst>
            <pc:docMk/>
            <pc:sldMk cId="3866409499" sldId="260"/>
            <ac:picMk id="1027" creationId="{BB50BD93-117D-40FD-87F7-7630289F5E9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B1A51-DBDF-4087-A106-5271BC574C7F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CEBCE-4851-4B49-BA6F-F1194B81C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CEBCE-4851-4B49-BA6F-F1194B81CEA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0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04-12-2025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04-12-2025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04-12-2025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Pennsylvania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en.wikipedia.org/wiki/Philadelphia" TargetMode="External"/><Relationship Id="rId12" Type="http://schemas.openxmlformats.org/officeDocument/2006/relationships/hyperlink" Target="https://www.gopuff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n.wikipedia.org/wiki/Online_food_ordering" TargetMode="External"/><Relationship Id="rId11" Type="http://schemas.openxmlformats.org/officeDocument/2006/relationships/hyperlink" Target="https://en.wikipedia.org/wiki/BevMo!" TargetMode="External"/><Relationship Id="rId5" Type="http://schemas.openxmlformats.org/officeDocument/2006/relationships/hyperlink" Target="https://en.wikipedia.org/wiki/Privately_held_company" TargetMode="External"/><Relationship Id="rId10" Type="http://schemas.openxmlformats.org/officeDocument/2006/relationships/hyperlink" Target="https://en.wikipedia.org/wiki/Subsidiary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en.wikipedia.org/wiki/Gopuff#cite_note-layoff-1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3814763" y="119060"/>
            <a:ext cx="4352925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go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puff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10706102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GoPuff BUSINESS Analysis: Benchmarking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 strategic evaluation of gopuff’s sales, customer satisfaction, and inventory distribution using KPIs and Power BI—positioned against GoPuff’s market presence to uncover optimization opportunities.</a:t>
            </a:r>
            <a:endParaRPr lang="en-IN" b="1" dirty="0">
              <a:solidFill>
                <a:schemeClr val="accent6">
                  <a:lumMod val="7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834481"/>
            <a:ext cx="7896227" cy="456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ject Jupyter - Wikipedia">
            <a:extLst>
              <a:ext uri="{FF2B5EF4-FFF2-40B4-BE49-F238E27FC236}">
                <a16:creationId xmlns:a16="http://schemas.microsoft.com/office/drawing/2014/main" id="{972C6F2B-0BE1-CEC3-14C2-356A65B2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1712" y="40674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08A828-E7F9-4141-BB38-353FC88BB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5213" y="6038741"/>
            <a:ext cx="2219635" cy="7621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C9E8D77-BB2B-450B-8AD2-635B45ECF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504997"/>
              </p:ext>
            </p:extLst>
          </p:nvPr>
        </p:nvGraphicFramePr>
        <p:xfrm>
          <a:off x="52388" y="2485172"/>
          <a:ext cx="6977062" cy="43918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29945">
                  <a:extLst>
                    <a:ext uri="{9D8B030D-6E8A-4147-A177-3AD203B41FA5}">
                      <a16:colId xmlns:a16="http://schemas.microsoft.com/office/drawing/2014/main" val="3865961757"/>
                    </a:ext>
                  </a:extLst>
                </a:gridCol>
                <a:gridCol w="4647117">
                  <a:extLst>
                    <a:ext uri="{9D8B030D-6E8A-4147-A177-3AD203B41FA5}">
                      <a16:colId xmlns:a16="http://schemas.microsoft.com/office/drawing/2014/main" val="1359887199"/>
                    </a:ext>
                  </a:extLst>
                </a:gridCol>
              </a:tblGrid>
              <a:tr h="308107">
                <a:tc gridSpan="2">
                  <a:txBody>
                    <a:bodyPr/>
                    <a:lstStyle/>
                    <a:p>
                      <a:pPr algn="ctr" fontAlgn="t"/>
                      <a:endParaRPr lang="en-US" sz="1700" dirty="0">
                        <a:effectLst/>
                      </a:endParaRPr>
                    </a:p>
                  </a:txBody>
                  <a:tcPr marL="85320" marR="85320" marT="42660" marB="4266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655477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Company type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u="none" strike="noStrike">
                          <a:solidFill>
                            <a:srgbClr val="3366CC"/>
                          </a:solidFill>
                          <a:effectLst/>
                          <a:hlinkClick r:id="rId5" tooltip="Privately held company"/>
                        </a:rPr>
                        <a:t>Private</a:t>
                      </a:r>
                      <a:endParaRPr lang="en-US" sz="170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3428166899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Industry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u="none" strike="noStrike">
                          <a:solidFill>
                            <a:srgbClr val="3366CC"/>
                          </a:solidFill>
                          <a:effectLst/>
                          <a:hlinkClick r:id="rId6" tooltip="Online food ordering"/>
                        </a:rPr>
                        <a:t>Online food ordering</a:t>
                      </a:r>
                      <a:endParaRPr lang="en-US" sz="170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180191065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Founded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2013; 12 years ago</a:t>
                      </a: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2465678872"/>
                  </a:ext>
                </a:extLst>
              </a:tr>
              <a:tr h="539885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Founders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700">
                          <a:effectLst/>
                        </a:rPr>
                        <a:t>Yakir Gola</a:t>
                      </a:r>
                    </a:p>
                    <a:p>
                      <a:pPr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700">
                          <a:effectLst/>
                        </a:rPr>
                        <a:t>Rafael Ilishayev</a:t>
                      </a: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939798329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Headquarters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u="none" strike="noStrike">
                          <a:solidFill>
                            <a:srgbClr val="3366CC"/>
                          </a:solidFill>
                          <a:effectLst/>
                          <a:hlinkClick r:id="rId7" tooltip="Philadelphia"/>
                        </a:rPr>
                        <a:t>Philadelphia</a:t>
                      </a:r>
                      <a:r>
                        <a:rPr lang="en-US" sz="1700">
                          <a:effectLst/>
                        </a:rPr>
                        <a:t>, </a:t>
                      </a:r>
                      <a:r>
                        <a:rPr lang="en-US" sz="1700" u="none" strike="noStrike">
                          <a:solidFill>
                            <a:srgbClr val="3366CC"/>
                          </a:solidFill>
                          <a:effectLst/>
                          <a:hlinkClick r:id="rId8" tooltip="Pennsylvania"/>
                        </a:rPr>
                        <a:t>Pennsylvania</a:t>
                      </a:r>
                      <a:endParaRPr lang="en-US" sz="170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3797125863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Area served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United States, United Kingdom</a:t>
                      </a: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173445430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Services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u="none" strike="noStrike">
                          <a:solidFill>
                            <a:srgbClr val="3366CC"/>
                          </a:solidFill>
                          <a:effectLst/>
                          <a:hlinkClick r:id="rId6" tooltip="Online food ordering"/>
                        </a:rPr>
                        <a:t>Online convenience delivery</a:t>
                      </a:r>
                      <a:endParaRPr lang="en-US" sz="170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1735947621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Revenue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>
                          <a:effectLst/>
                        </a:rPr>
                        <a:t> US$1.2 billion (2023) </a:t>
                      </a:r>
                      <a:r>
                        <a:rPr lang="en-US" sz="1600" dirty="0"/>
                        <a:t>10,772 crore + 40 lakh</a:t>
                      </a:r>
                      <a:endParaRPr lang="en-US" sz="1700" dirty="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556381936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Number of employees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c. 5,000</a:t>
                      </a:r>
                      <a:r>
                        <a:rPr lang="en-US" sz="1700" b="0" u="none" strike="noStrike" baseline="30000">
                          <a:solidFill>
                            <a:srgbClr val="3366CC"/>
                          </a:solidFill>
                          <a:effectLst/>
                          <a:hlinkClick r:id="rId9"/>
                        </a:rPr>
                        <a:t>[1]</a:t>
                      </a:r>
                      <a:endParaRPr lang="en-US" sz="170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3765029954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u="none" strike="noStrike">
                          <a:solidFill>
                            <a:srgbClr val="3366CC"/>
                          </a:solidFill>
                          <a:effectLst/>
                          <a:hlinkClick r:id="rId10" tooltip="Subsidiary"/>
                        </a:rPr>
                        <a:t>Subsidiaries</a:t>
                      </a:r>
                      <a:endParaRPr lang="en-US" sz="1700">
                        <a:effectLst/>
                      </a:endParaRP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u="none" strike="noStrike">
                          <a:solidFill>
                            <a:srgbClr val="3366CC"/>
                          </a:solidFill>
                          <a:effectLst/>
                          <a:hlinkClick r:id="rId11" tooltip="BevMo!"/>
                        </a:rPr>
                        <a:t>BevMo!</a:t>
                      </a:r>
                      <a:endParaRPr lang="en-US" sz="170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2946590171"/>
                  </a:ext>
                </a:extLst>
              </a:tr>
              <a:tr h="308107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Website</a:t>
                      </a:r>
                    </a:p>
                  </a:txBody>
                  <a:tcPr marL="85320" marR="85320" marT="42660" marB="426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u="none" strike="noStrike" dirty="0">
                          <a:solidFill>
                            <a:srgbClr val="3366CC"/>
                          </a:solidFill>
                          <a:effectLst/>
                          <a:hlinkClick r:id="rId12"/>
                        </a:rPr>
                        <a:t>gopuff.com</a:t>
                      </a:r>
                      <a:endParaRPr lang="en-US" sz="1700" dirty="0">
                        <a:effectLst/>
                      </a:endParaRPr>
                    </a:p>
                  </a:txBody>
                  <a:tcPr marL="85320" marR="85320" marT="42660" marB="42660"/>
                </a:tc>
                <a:extLst>
                  <a:ext uri="{0D108BD9-81ED-4DB2-BD59-A6C34878D82A}">
                    <a16:rowId xmlns:a16="http://schemas.microsoft.com/office/drawing/2014/main" val="639133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6409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3814763" y="119060"/>
            <a:ext cx="4352925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go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puff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gopuff’s sales performance, customer satisfaction, and inventory distribution to identify key insights and opportunities for optimization using various KPIs and visualizations in Python.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68" y="3136047"/>
            <a:ext cx="7896227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IN" b="1" dirty="0"/>
              <a:t>Formula:</a:t>
            </a:r>
            <a:r>
              <a:rPr lang="en-US" dirty="0"/>
              <a:t>Total Sales=∑(Quantity </a:t>
            </a:r>
            <a:r>
              <a:rPr lang="en-US" dirty="0" err="1"/>
              <a:t>Sold×Price</a:t>
            </a:r>
            <a:r>
              <a:rPr lang="en-US" dirty="0"/>
              <a:t> per Item)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b="1" dirty="0"/>
              <a:t>        Formula-</a:t>
            </a:r>
            <a:r>
              <a:rPr lang="en-US" dirty="0"/>
              <a:t> Average Sales=Total Sales​ /Number of Sales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b="1" dirty="0"/>
              <a:t>        Formula-</a:t>
            </a:r>
            <a:r>
              <a:rPr lang="en-US" dirty="0"/>
              <a:t>Number of Items=Count of Unique Item Names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       </a:t>
            </a:r>
            <a:r>
              <a:rPr lang="en-IN" b="1" dirty="0"/>
              <a:t>Formula-  </a:t>
            </a:r>
            <a:r>
              <a:rPr lang="en-IN" dirty="0"/>
              <a:t>Average Rating= ∑Ratings​/ Number of Ratings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ject Jupyter - Wikipedia">
            <a:extLst>
              <a:ext uri="{FF2B5EF4-FFF2-40B4-BE49-F238E27FC236}">
                <a16:creationId xmlns:a16="http://schemas.microsoft.com/office/drawing/2014/main" id="{972C6F2B-0BE1-CEC3-14C2-356A65B2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1712" y="40674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08A828-E7F9-4141-BB38-353FC88BB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5213" y="6010165"/>
            <a:ext cx="2219635" cy="7621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go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puff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435690"/>
            <a:ext cx="1113952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FBAB8-8868-F60C-382A-AC6957B0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E1347EE7-FE29-0E29-BF15-30E6447AE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1827" y="40674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642709-75B6-4E40-A412-839DDDEE2A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0766" y="6095894"/>
            <a:ext cx="2219635" cy="7621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go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puff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560247"/>
            <a:ext cx="11353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08E2635-0769-D65B-377B-2B89B53AA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477DCD06-8CCD-19DF-C8D4-3B05B23C2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3218" y="40674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4B20B6-3D1F-44FD-89F6-AFA11A62E3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9501" y="6072455"/>
            <a:ext cx="2219635" cy="7621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10531</TotalTime>
  <Words>500</Words>
  <Application>Microsoft Office PowerPoint</Application>
  <PresentationFormat>Widescreen</PresentationFormat>
  <Paragraphs>65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Arial Rounded MT Bold</vt:lpstr>
      <vt:lpstr>Calibri</vt:lpstr>
      <vt:lpstr>Calibri Light</vt:lpstr>
      <vt:lpstr>Segoe UI Black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Abhishek Mehandole</cp:lastModifiedBy>
  <cp:revision>20</cp:revision>
  <dcterms:created xsi:type="dcterms:W3CDTF">2024-06-24T12:27:37Z</dcterms:created>
  <dcterms:modified xsi:type="dcterms:W3CDTF">2025-12-04T06:50:41Z</dcterms:modified>
</cp:coreProperties>
</file>